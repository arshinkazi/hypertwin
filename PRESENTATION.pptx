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home SBP readings</c:v>
                </c:pt>
              </c:strCache>
            </c:strRef>
          </c:tx>
          <c:spPr>
            <a:solidFill>
              <a:srgbClr val="9BB3C7"/>
            </a:solidFill>
            <a:ln w="31750" cap="flat">
              <a:solidFill>
                <a:srgbClr val="9BB3C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BB3C7"/>
              </a:solidFill>
              <a:ln w="9525" cap="flat">
                <a:solidFill>
                  <a:srgbClr val="9BB3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Jul 01</c:v>
                  </c:pt>
                  <c:pt idx="1">
                    <c:v>  </c:v>
                  </c:pt>
                  <c:pt idx="2">
                    <c:v>   </c:v>
                  </c:pt>
                  <c:pt idx="3">
                    <c:v>    </c:v>
                  </c:pt>
                  <c:pt idx="4">
                    <c:v>     </c:v>
                  </c:pt>
                  <c:pt idx="5">
                    <c:v>      </c:v>
                  </c:pt>
                  <c:pt idx="6">
                    <c:v>       </c:v>
                  </c:pt>
                  <c:pt idx="7">
                    <c:v>        </c:v>
                  </c:pt>
                  <c:pt idx="8">
                    <c:v>Jul 09</c:v>
                  </c:pt>
                  <c:pt idx="9">
                    <c:v>  </c:v>
                  </c:pt>
                  <c:pt idx="10">
                    <c:v>   </c:v>
                  </c:pt>
                  <c:pt idx="11">
                    <c:v>    </c:v>
                  </c:pt>
                  <c:pt idx="12">
                    <c:v>     </c:v>
                  </c:pt>
                  <c:pt idx="13">
                    <c:v>      </c:v>
                  </c:pt>
                  <c:pt idx="14">
                    <c:v>       </c:v>
                  </c:pt>
                  <c:pt idx="15">
                    <c:v>        </c:v>
                  </c:pt>
                  <c:pt idx="16">
                    <c:v>Jul 18</c:v>
                  </c:pt>
                  <c:pt idx="17">
                    <c:v>  </c:v>
                  </c:pt>
                  <c:pt idx="18">
                    <c:v>   </c:v>
                  </c:pt>
                  <c:pt idx="19">
                    <c:v>    </c:v>
                  </c:pt>
                  <c:pt idx="20">
                    <c:v>     </c:v>
                  </c:pt>
                  <c:pt idx="21">
                    <c:v>      </c:v>
                  </c:pt>
                  <c:pt idx="22">
                    <c:v>       </c:v>
                  </c:pt>
                  <c:pt idx="23">
                    <c:v>        </c:v>
                  </c:pt>
                  <c:pt idx="24">
                    <c:v>Jul 27</c:v>
                  </c:pt>
                  <c:pt idx="25">
                    <c:v>  </c:v>
                  </c:pt>
                  <c:pt idx="26">
                    <c:v>   </c:v>
                  </c:pt>
                  <c:pt idx="27">
                    <c:v>    </c:v>
                  </c:pt>
                  <c:pt idx="28">
                    <c:v>     </c:v>
                  </c:pt>
                  <c:pt idx="29">
                    <c:v>      </c:v>
                  </c:pt>
                  <c:pt idx="30">
                    <c:v>       </c:v>
                  </c:pt>
                  <c:pt idx="31">
                    <c:v>        </c:v>
                  </c:pt>
                  <c:pt idx="32">
                    <c:v>Aug 05</c:v>
                  </c:pt>
                  <c:pt idx="33">
                    <c:v>  </c:v>
                  </c:pt>
                  <c:pt idx="34">
                    <c:v>   </c:v>
                  </c:pt>
                  <c:pt idx="35">
                    <c:v>    </c:v>
                  </c:pt>
                  <c:pt idx="36">
                    <c:v>     </c:v>
                  </c:pt>
                  <c:pt idx="37">
                    <c:v>      </c:v>
                  </c:pt>
                  <c:pt idx="38">
                    <c:v>       </c:v>
                  </c:pt>
                  <c:pt idx="39">
                    <c:v>        </c:v>
                  </c:pt>
                  <c:pt idx="40">
                    <c:v>Aug 13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133.3</c:v>
                </c:pt>
                <c:pt idx="1">
                  <c:v>133.1</c:v>
                </c:pt>
                <c:pt idx="2">
                  <c:v>134.2</c:v>
                </c:pt>
                <c:pt idx="3">
                  <c:v>119.8</c:v>
                </c:pt>
                <c:pt idx="4">
                  <c:v>139.2</c:v>
                </c:pt>
                <c:pt idx="5">
                  <c:v>131.3</c:v>
                </c:pt>
                <c:pt idx="6">
                  <c:v>140</c:v>
                </c:pt>
                <c:pt idx="7">
                  <c:v>126</c:v>
                </c:pt>
                <c:pt idx="8">
                  <c:v>130.1</c:v>
                </c:pt>
                <c:pt idx="9">
                  <c:v>128.9</c:v>
                </c:pt>
                <c:pt idx="10">
                  <c:v>125.9</c:v>
                </c:pt>
                <c:pt idx="11">
                  <c:v>127</c:v>
                </c:pt>
                <c:pt idx="12">
                  <c:v>128.9</c:v>
                </c:pt>
                <c:pt idx="13">
                  <c:v>139.2</c:v>
                </c:pt>
                <c:pt idx="14">
                  <c:v>123.7</c:v>
                </c:pt>
                <c:pt idx="15">
                  <c:v>127.4</c:v>
                </c:pt>
                <c:pt idx="16">
                  <c:v>134</c:v>
                </c:pt>
                <c:pt idx="17">
                  <c:v>124.9</c:v>
                </c:pt>
                <c:pt idx="18">
                  <c:v>134.7</c:v>
                </c:pt>
                <c:pt idx="19">
                  <c:v>129.2</c:v>
                </c:pt>
                <c:pt idx="20">
                  <c:v>138.3</c:v>
                </c:pt>
                <c:pt idx="21">
                  <c:v>138.3</c:v>
                </c:pt>
                <c:pt idx="22">
                  <c:v>129.7</c:v>
                </c:pt>
                <c:pt idx="23">
                  <c:v>128.8</c:v>
                </c:pt>
                <c:pt idx="24">
                  <c:v>128.8</c:v>
                </c:pt>
                <c:pt idx="25">
                  <c:v>123.1</c:v>
                </c:pt>
                <c:pt idx="26">
                  <c:v>136.2</c:v>
                </c:pt>
                <c:pt idx="27">
                  <c:v>129.9</c:v>
                </c:pt>
                <c:pt idx="28">
                  <c:v>127</c:v>
                </c:pt>
                <c:pt idx="29">
                  <c:v>133.8</c:v>
                </c:pt>
                <c:pt idx="30">
                  <c:v>126.7</c:v>
                </c:pt>
                <c:pt idx="31">
                  <c:v>125</c:v>
                </c:pt>
                <c:pt idx="32">
                  <c:v>134.4</c:v>
                </c:pt>
                <c:pt idx="33">
                  <c:v>126.6</c:v>
                </c:pt>
                <c:pt idx="34">
                  <c:v>128.3</c:v>
                </c:pt>
                <c:pt idx="35">
                  <c:v>128.2</c:v>
                </c:pt>
                <c:pt idx="36">
                  <c:v>130.3</c:v>
                </c:pt>
                <c:pt idx="37">
                  <c:v>122.3</c:v>
                </c:pt>
                <c:pt idx="38">
                  <c:v>132</c:v>
                </c:pt>
                <c:pt idx="39">
                  <c:v>118.1</c:v>
                </c:pt>
                <c:pt idx="40">
                  <c:v>127.6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HyperTwin state estimate</c:v>
                </c:pt>
              </c:strCache>
            </c:strRef>
          </c:tx>
          <c:spPr>
            <a:solidFill>
              <a:srgbClr val="0E9F94"/>
            </a:solidFill>
            <a:ln w="31750" cap="flat">
              <a:solidFill>
                <a:srgbClr val="0E9F9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9F94"/>
              </a:solidFill>
              <a:ln w="9525" cap="flat">
                <a:solidFill>
                  <a:srgbClr val="0E9F9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Jul 01</c:v>
                  </c:pt>
                  <c:pt idx="1">
                    <c:v>  </c:v>
                  </c:pt>
                  <c:pt idx="2">
                    <c:v>   </c:v>
                  </c:pt>
                  <c:pt idx="3">
                    <c:v>    </c:v>
                  </c:pt>
                  <c:pt idx="4">
                    <c:v>     </c:v>
                  </c:pt>
                  <c:pt idx="5">
                    <c:v>      </c:v>
                  </c:pt>
                  <c:pt idx="6">
                    <c:v>       </c:v>
                  </c:pt>
                  <c:pt idx="7">
                    <c:v>        </c:v>
                  </c:pt>
                  <c:pt idx="8">
                    <c:v>Jul 09</c:v>
                  </c:pt>
                  <c:pt idx="9">
                    <c:v>  </c:v>
                  </c:pt>
                  <c:pt idx="10">
                    <c:v>   </c:v>
                  </c:pt>
                  <c:pt idx="11">
                    <c:v>    </c:v>
                  </c:pt>
                  <c:pt idx="12">
                    <c:v>     </c:v>
                  </c:pt>
                  <c:pt idx="13">
                    <c:v>      </c:v>
                  </c:pt>
                  <c:pt idx="14">
                    <c:v>       </c:v>
                  </c:pt>
                  <c:pt idx="15">
                    <c:v>        </c:v>
                  </c:pt>
                  <c:pt idx="16">
                    <c:v>Jul 18</c:v>
                  </c:pt>
                  <c:pt idx="17">
                    <c:v>  </c:v>
                  </c:pt>
                  <c:pt idx="18">
                    <c:v>   </c:v>
                  </c:pt>
                  <c:pt idx="19">
                    <c:v>    </c:v>
                  </c:pt>
                  <c:pt idx="20">
                    <c:v>     </c:v>
                  </c:pt>
                  <c:pt idx="21">
                    <c:v>      </c:v>
                  </c:pt>
                  <c:pt idx="22">
                    <c:v>       </c:v>
                  </c:pt>
                  <c:pt idx="23">
                    <c:v>        </c:v>
                  </c:pt>
                  <c:pt idx="24">
                    <c:v>Jul 27</c:v>
                  </c:pt>
                  <c:pt idx="25">
                    <c:v>  </c:v>
                  </c:pt>
                  <c:pt idx="26">
                    <c:v>   </c:v>
                  </c:pt>
                  <c:pt idx="27">
                    <c:v>    </c:v>
                  </c:pt>
                  <c:pt idx="28">
                    <c:v>     </c:v>
                  </c:pt>
                  <c:pt idx="29">
                    <c:v>      </c:v>
                  </c:pt>
                  <c:pt idx="30">
                    <c:v>       </c:v>
                  </c:pt>
                  <c:pt idx="31">
                    <c:v>        </c:v>
                  </c:pt>
                  <c:pt idx="32">
                    <c:v>Aug 05</c:v>
                  </c:pt>
                  <c:pt idx="33">
                    <c:v>  </c:v>
                  </c:pt>
                  <c:pt idx="34">
                    <c:v>   </c:v>
                  </c:pt>
                  <c:pt idx="35">
                    <c:v>    </c:v>
                  </c:pt>
                  <c:pt idx="36">
                    <c:v>     </c:v>
                  </c:pt>
                  <c:pt idx="37">
                    <c:v>      </c:v>
                  </c:pt>
                  <c:pt idx="38">
                    <c:v>       </c:v>
                  </c:pt>
                  <c:pt idx="39">
                    <c:v>        </c:v>
                  </c:pt>
                  <c:pt idx="40">
                    <c:v>Aug 13</c:v>
                  </c:pt>
                </c:lvl>
              </c:multiLvlStrCache>
            </c:multiLvl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132</c:v>
                </c:pt>
                <c:pt idx="1">
                  <c:v>132.8</c:v>
                </c:pt>
                <c:pt idx="2">
                  <c:v>133.5</c:v>
                </c:pt>
                <c:pt idx="3">
                  <c:v>131.1</c:v>
                </c:pt>
                <c:pt idx="4">
                  <c:v>132.7</c:v>
                </c:pt>
                <c:pt idx="5">
                  <c:v>132.2</c:v>
                </c:pt>
                <c:pt idx="6">
                  <c:v>134</c:v>
                </c:pt>
                <c:pt idx="7">
                  <c:v>132.9</c:v>
                </c:pt>
                <c:pt idx="8">
                  <c:v>132.3</c:v>
                </c:pt>
                <c:pt idx="9">
                  <c:v>132.4</c:v>
                </c:pt>
                <c:pt idx="10">
                  <c:v>132.2</c:v>
                </c:pt>
                <c:pt idx="11">
                  <c:v>131.5</c:v>
                </c:pt>
                <c:pt idx="12">
                  <c:v>131.7</c:v>
                </c:pt>
                <c:pt idx="13">
                  <c:v>132.7</c:v>
                </c:pt>
                <c:pt idx="14">
                  <c:v>131.5</c:v>
                </c:pt>
                <c:pt idx="15">
                  <c:v>130.6</c:v>
                </c:pt>
                <c:pt idx="16">
                  <c:v>131</c:v>
                </c:pt>
                <c:pt idx="17">
                  <c:v>130.2</c:v>
                </c:pt>
                <c:pt idx="18">
                  <c:v>131</c:v>
                </c:pt>
                <c:pt idx="19">
                  <c:v>131.1</c:v>
                </c:pt>
                <c:pt idx="20">
                  <c:v>132.1</c:v>
                </c:pt>
                <c:pt idx="21">
                  <c:v>132.9</c:v>
                </c:pt>
                <c:pt idx="22">
                  <c:v>132.1</c:v>
                </c:pt>
                <c:pt idx="23">
                  <c:v>131.5</c:v>
                </c:pt>
                <c:pt idx="24">
                  <c:v>131</c:v>
                </c:pt>
                <c:pt idx="25">
                  <c:v>130</c:v>
                </c:pt>
                <c:pt idx="26">
                  <c:v>130.6</c:v>
                </c:pt>
                <c:pt idx="27">
                  <c:v>130.7</c:v>
                </c:pt>
                <c:pt idx="28">
                  <c:v>130.8</c:v>
                </c:pt>
                <c:pt idx="29">
                  <c:v>131.1</c:v>
                </c:pt>
                <c:pt idx="30">
                  <c:v>130.6</c:v>
                </c:pt>
                <c:pt idx="31">
                  <c:v>130</c:v>
                </c:pt>
                <c:pt idx="32">
                  <c:v>130.2</c:v>
                </c:pt>
                <c:pt idx="33">
                  <c:v>129.8</c:v>
                </c:pt>
                <c:pt idx="34">
                  <c:v>129.9</c:v>
                </c:pt>
                <c:pt idx="35">
                  <c:v>129.6</c:v>
                </c:pt>
                <c:pt idx="36">
                  <c:v>129.7</c:v>
                </c:pt>
                <c:pt idx="37">
                  <c:v>129.1</c:v>
                </c:pt>
                <c:pt idx="38">
                  <c:v>129.8</c:v>
                </c:pt>
                <c:pt idx="39">
                  <c:v>128.5</c:v>
                </c:pt>
                <c:pt idx="40">
                  <c:v>128.7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50"/>
          <c:min val="100"/>
        </c:scaling>
        <c:delete val="0"/>
        <c:axPos val="l"/>
        <c:majorGridlines>
          <c:spPr>
            <a:ln w="9525" cap="flat">
              <a:solidFill>
                <a:srgbClr val="D5DEE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4748B"/>
                    </a:solidFill>
                    <a:latin typeface="Arial"/>
                  </a:rPr>
                  <a:t>Systolic BP (mmHg)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93B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(mmHg)</c:v>
                </c:pt>
              </c:strCache>
            </c:strRef>
          </c:tx>
          <c:spPr>
            <a:solidFill>
              <a:srgbClr val="0E9F9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9F9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BB3C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BB3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HyperTwin</c:v>
                  </c:pt>
                  <c:pt idx="1">
                    <c:v>7-day mean</c:v>
                  </c:pt>
                  <c:pt idx="2">
                    <c:v>Last reading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4.25</c:v>
                </c:pt>
                <c:pt idx="1">
                  <c:v>4.33</c:v>
                </c:pt>
                <c:pt idx="2">
                  <c:v>5.44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0E9F9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9F9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BB3C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BB3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HyperTwin</c:v>
                  </c:pt>
                  <c:pt idx="1">
                    <c:v>7-day mean</c:v>
                  </c:pt>
                  <c:pt idx="2">
                    <c:v>Last reading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0.937</c:v>
                </c:pt>
                <c:pt idx="1">
                  <c:v>0.935</c:v>
                </c:pt>
                <c:pt idx="2">
                  <c:v>0.904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8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Brier score</c:v>
                </c:pt>
              </c:strCache>
            </c:strRef>
          </c:tx>
          <c:spPr>
            <a:solidFill>
              <a:srgbClr val="0E9F9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9F9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BB3C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BB3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HyperTwin</c:v>
                  </c:pt>
                  <c:pt idx="1">
                    <c:v>7-day mean</c:v>
                  </c:pt>
                  <c:pt idx="2">
                    <c:v>Last reading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0.075</c:v>
                </c:pt>
                <c:pt idx="1">
                  <c:v>0.076</c:v>
                </c:pt>
                <c:pt idx="2">
                  <c:v>0.099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problem, not the tool. HyperTwin is a research prototype on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Guidelines endorse home BP and cite 135/85 for multi-day averages. The chart is a synthetic patient, not real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static dashboard shows readings. A twin keeps a state that changes when new data arrives.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sentence slowly. Everything on this slide exists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Missing and implausible readings do not move the state; uncertainty grows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Streamlit app. Controls: patient, replay slider, target, add observation.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in the app: 175/95 gives 6% to 53%. The added reading moves forecast and risk; it is not drawn as a point on the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sliders are planned sleep and planned steps for the next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the 7-day mean is nearly as good. Results show agreement with our own generator, not clinical validity.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what is implemented and tested is listed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all of this out loud in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6C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6C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HAPPIEST HEALTH DIGITAL TWIN CHALLENGE 2026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7373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HyperTwin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004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isolated home blood-pressure readings to a continuously updated, patient-specific state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prototype  |  synthetic data only  |  not a diagnostic or treatment tool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394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A6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name]  ·  [College / incubator]  ·  to be filled with verified details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6C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home reading is one noisy number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patient P090, 41 valid morning readings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955280" y="16916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38160" y="18288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BP is guideline-endorsed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25856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Out-of-office BP is recommended in major hypertension guidance.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955280" y="315468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32918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are for averages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372160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Guidelines cite 135/85 mmHg for home BP averaged over several days.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955280" y="461772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38160" y="4754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trend is what a clinician needs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5184648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readings scatter. A state estimate shows where the patient is heading.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ESH Working Group home BP position paper 2021 (PMC9904446); AAFP summary of ISH guidelines 2021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history and today's data together, as one evolving state.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3200400" cy="1828800"/>
          </a:xfrm>
          <a:prstGeom prst="roundRect">
            <a:avLst>
              <a:gd name="adj" fmla="val 4000"/>
            </a:avLst>
          </a:prstGeom>
          <a:solidFill>
            <a:srgbClr val="12305A"/>
          </a:solidFill>
          <a:ln w="12700">
            <a:solidFill>
              <a:srgbClr val="2449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383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EHR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9776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age, BMI, medications, family history, last clinic BP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80560" y="3108960"/>
            <a:ext cx="3200400" cy="1828800"/>
          </a:xfrm>
          <a:prstGeom prst="roundRect">
            <a:avLst>
              <a:gd name="adj" fmla="val 4000"/>
            </a:avLst>
          </a:prstGeom>
          <a:solidFill>
            <a:srgbClr val="12305A"/>
          </a:solidFill>
          <a:ln w="12700">
            <a:solidFill>
              <a:srgbClr val="2449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3383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observations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39776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BP, sleep, steps, one day at a time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21040" y="3108960"/>
            <a:ext cx="3200400" cy="1828800"/>
          </a:xfrm>
          <a:prstGeom prst="roundRect">
            <a:avLst>
              <a:gd name="adj" fmla="val 4000"/>
            </a:avLst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383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state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39776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level and its uncertainty, updated every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8404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8404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6C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HyperTwin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737360"/>
            <a:ext cx="10927080" cy="1737360"/>
          </a:xfrm>
          <a:prstGeom prst="roundRect">
            <a:avLst>
              <a:gd name="adj" fmla="val 4211"/>
            </a:avLst>
          </a:prstGeom>
          <a:solidFill>
            <a:srgbClr val="E3F5F3"/>
          </a:solidFill>
          <a:ln w="12700">
            <a:solidFill>
              <a:srgbClr val="E3F5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91440" cy="173736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9202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HyperTwin is a research prototype that updates a patient-specific blood-pressure state from historical health information and home readings to forecast next-morning systolic BP risk.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26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EHR, home SBP/DBP, sleep, steps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343400" y="38404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526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Kalman level and variance per patient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046720" y="384048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4526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Next-morning SBP, P(SBP at or above target), contributions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data 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783080"/>
            <a:ext cx="2743200" cy="1737360"/>
          </a:xfrm>
          <a:prstGeom prst="roundRect">
            <a:avLst>
              <a:gd name="adj" fmla="val 421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Synthetic EHR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age, BMI, antihypertensive count, family history, last clinic SBP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2743200" cy="1737360"/>
          </a:xfrm>
          <a:prstGeom prst="roundRect">
            <a:avLst>
              <a:gd name="adj" fmla="val 421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297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Home observations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timestamped SBP, DBP, sleep, steps; missing days and implausible values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977640" y="1783080"/>
            <a:ext cx="2468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052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EHR prior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60520" y="23317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OLS fit on training patients gives the starting level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977640" y="4160520"/>
            <a:ext cx="2468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60520" y="4297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Quality gate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47091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SBP 70 to 250, DBP below SBP, else the reading is skipped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040880" y="2971800"/>
            <a:ext cx="2194560" cy="2011680"/>
          </a:xfrm>
          <a:prstGeom prst="roundRect">
            <a:avLst>
              <a:gd name="adj" fmla="val 3636"/>
            </a:avLst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Patient state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5204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F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Kalman level and variance, plus sleep/steps effect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738360" y="1783080"/>
            <a:ext cx="1828800" cy="1737360"/>
          </a:xfrm>
          <a:prstGeom prst="roundRect">
            <a:avLst>
              <a:gd name="adj" fmla="val 421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921240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Forecast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921240" y="23317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F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next-morning SBP, P(at or above target), contributions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738360" y="4160520"/>
            <a:ext cx="1828800" cy="1737360"/>
          </a:xfrm>
          <a:prstGeom prst="roundRect">
            <a:avLst>
              <a:gd name="adj" fmla="val 4211"/>
            </a:avLst>
          </a:prstGeom>
          <a:solidFill>
            <a:srgbClr val="12305A"/>
          </a:solidFill>
          <a:ln w="12700">
            <a:solidFill>
              <a:srgbClr val="12305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2124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Dashboard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921240" y="47091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F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replay, add reading, what-if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83280" y="2651760"/>
            <a:ext cx="5943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83280" y="5029200"/>
            <a:ext cx="5943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46520" y="2651760"/>
            <a:ext cx="594360" cy="91440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6446520" y="4389120"/>
            <a:ext cx="594360" cy="64008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9235440" y="2834640"/>
            <a:ext cx="502920" cy="73152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235440" y="4389120"/>
            <a:ext cx="502920" cy="64008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src/twin.py. Parameters fit on 90 training patients only; each forecast uses data before that day.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 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pic>
        <p:nvPicPr>
          <p:cNvPr id="4" name="Image 0" descr="img/c_das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7726680" cy="41330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86800" y="1645920"/>
            <a:ext cx="64008" cy="109728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15400" y="1645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and risk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915400" y="2057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Next-morning SBP, 90% interval, P(at or above 135)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0" y="3017520"/>
            <a:ext cx="64008" cy="109728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3017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over time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34290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level with 90% band against valid readings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86800" y="4389120"/>
            <a:ext cx="64008" cy="109728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915400" y="4389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800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 implausible readings shown as red crosses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dashboard screenshot. Synthetic patient P090, replay day 45.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reading changes the state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400" dirty="0"/>
          </a:p>
        </p:txBody>
      </p:sp>
      <p:pic>
        <p:nvPicPr>
          <p:cNvPr id="5" name="Image 0" descr="img/c_bef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11680"/>
            <a:ext cx="6766560" cy="731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adding 175/95 mmHg</a:t>
            </a:r>
            <a:endParaRPr lang="en-US" sz="1400" dirty="0"/>
          </a:p>
        </p:txBody>
      </p:sp>
      <p:pic>
        <p:nvPicPr>
          <p:cNvPr id="7" name="Image 1" descr="img/c_af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676656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863840" y="182880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5800" dirty="0"/>
          </a:p>
        </p:txBody>
      </p:sp>
      <p:sp>
        <p:nvSpPr>
          <p:cNvPr id="9" name="Text 5"/>
          <p:cNvSpPr txBox="1"/>
          <p:nvPr/>
        </p:nvSpPr>
        <p:spPr>
          <a:xfrm>
            <a:off x="9326880" y="182880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9875520" y="18288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5800" dirty="0"/>
          </a:p>
        </p:txBody>
      </p:sp>
      <p:sp>
        <p:nvSpPr>
          <p:cNvPr id="11" name="Text 7"/>
          <p:cNvSpPr txBox="1"/>
          <p:nvPr/>
        </p:nvSpPr>
        <p:spPr>
          <a:xfrm>
            <a:off x="7863840" y="30175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of next-morning SBP at or above 135 mmHg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863840" y="3749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default 150/90 reading gives 6% to 20%.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663440"/>
            <a:ext cx="10927080" cy="1188720"/>
          </a:xfrm>
          <a:prstGeom prst="roundRect">
            <a:avLst>
              <a:gd name="adj" fmla="val 6154"/>
            </a:avLst>
          </a:prstGeom>
          <a:solidFill>
            <a:srgbClr val="FFF6E5"/>
          </a:solidFill>
          <a:ln w="12700">
            <a:solidFill>
              <a:srgbClr val="F3D9A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14400" y="48463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4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synthetic demonstration, patient P090 at replay day 45. Not a clinical outcome, and not what any real patient would see.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sleep and activity change?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pic>
        <p:nvPicPr>
          <p:cNvPr id="4" name="Image 0" descr="img/c_whati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7498080" cy="16642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611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to 21%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6634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135 to 131 mmHg, with 9.5 h sleep and 10,000 steps planned, after the 175/95 reading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595360" y="1645920"/>
            <a:ext cx="2971800" cy="3840480"/>
          </a:xfrm>
          <a:prstGeom prst="roundRect">
            <a:avLst>
              <a:gd name="adj" fmla="val 2462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2396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228600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sleep and steps associations the model learned. In this prototype those effects are assumptions built into the synthetic data.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44805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illustration, not a treatment effect.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dashboard screenshot, What-if scenario tab. Extreme settings chosen to make the effect visible.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state beat simple baselines?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(mmHg)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is better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286000"/>
          <a:ext cx="34747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38912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AUROC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38912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is better (axis starts at 0.85)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89120" y="2286000"/>
          <a:ext cx="34747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13816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Brier score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is better</a:t>
            </a:r>
            <a:endParaRPr lang="en-US" sz="12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138160" y="2286000"/>
          <a:ext cx="34747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gain over the last reading. Small gain over the 7-day mean, not shown to be statistically significant.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data. 4,024 predictions, 60 held-out test patients (90 training), one seed, no confidence intervals. Twin uses past data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prototype demonstrates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82880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2084832" cy="82296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Patient-specific state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from each patient's EHR, then learns from readings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62072" y="182880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62072" y="1828800"/>
            <a:ext cx="2084832" cy="82296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44952" y="2103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2743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data handled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044952" y="34747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and implausible readings do not move the state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84064" y="182880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84064" y="1828800"/>
            <a:ext cx="2084832" cy="82296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66944" y="2103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266944" y="2743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Short-horizon forecast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66944" y="34747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Next-morning SBP with a 90% interval and risk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06056" y="182880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06056" y="1828800"/>
            <a:ext cx="2084832" cy="82296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88936" y="2103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7488936" y="2743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Interpretable output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88936" y="34747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split into EHR prior, recent level, sleep, steps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28048" y="182880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28048" y="1828800"/>
            <a:ext cx="2084832" cy="82296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10928" y="2103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743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What-if simulation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347472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planned sleep and steps on the same patient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first-of-its-kind claim. Many challenge entries build twins for other conditions.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and limitations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7373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12305A"/>
          </a:solidFill>
          <a:ln w="12700">
            <a:solidFill>
              <a:srgbClr val="2449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82296" cy="128016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 only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real patient information.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12305A"/>
          </a:solidFill>
          <a:ln w="12700">
            <a:solidFill>
              <a:srgbClr val="2449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737360"/>
            <a:ext cx="82296" cy="128016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clinically validated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show agreement with our own generator.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12305A"/>
          </a:solidFill>
          <a:ln w="12700">
            <a:solidFill>
              <a:srgbClr val="2449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00400"/>
            <a:ext cx="82296" cy="128016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383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diagnosis or treatment tool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886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prototype.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200" y="320040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12305A"/>
          </a:solidFill>
          <a:ln w="12700">
            <a:solidFill>
              <a:srgbClr val="2449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3200400"/>
            <a:ext cx="82296" cy="1280160"/>
          </a:xfrm>
          <a:prstGeom prst="rect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3383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 target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886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Guidelines use multi-day averages. We predict a single morning.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66344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12305A"/>
          </a:solidFill>
          <a:ln w="12700">
            <a:solidFill>
              <a:srgbClr val="2449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663440"/>
            <a:ext cx="82296" cy="128016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edge over a 7-day mean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shown to be significant. One seed.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4663440"/>
            <a:ext cx="5349240" cy="1280160"/>
          </a:xfrm>
          <a:prstGeom prst="roundRect">
            <a:avLst>
              <a:gd name="adj" fmla="val 5714"/>
            </a:avLst>
          </a:prstGeom>
          <a:solidFill>
            <a:srgbClr val="12305A"/>
          </a:solidFill>
          <a:ln w="12700">
            <a:solidFill>
              <a:srgbClr val="2449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4663440"/>
            <a:ext cx="82296" cy="1280160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 effects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 and steps effects are set in the generator.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FA6C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readings to a state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822960" cy="54864"/>
          </a:xfrm>
          <a:prstGeom prst="rect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reading says what happened. A patient-specific state says where things are heading.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roadmap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566160"/>
            <a:ext cx="347472" cy="347472"/>
          </a:xfrm>
          <a:prstGeom prst="ellipse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35204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on licensed real home-BP data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133088"/>
            <a:ext cx="347472" cy="347472"/>
          </a:xfrm>
          <a:prstGeom prst="ellipse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408736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confidence intervals and calibration checks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0016"/>
            <a:ext cx="347472" cy="347472"/>
          </a:xfrm>
          <a:prstGeom prst="ellipse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00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65429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sleep and steps instead of assuming them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5266944"/>
            <a:ext cx="347472" cy="347472"/>
          </a:xfrm>
          <a:prstGeom prst="ellipse">
            <a:avLst/>
          </a:prstGeom>
          <a:solidFill>
            <a:srgbClr val="0E9F94"/>
          </a:solidFill>
          <a:ln w="12700">
            <a:solidFill>
              <a:srgbClr val="0E9F9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5266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522122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usefulness with clinicians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498080" y="3017520"/>
            <a:ext cx="4069080" cy="2560320"/>
          </a:xfrm>
          <a:prstGeom prst="roundRect">
            <a:avLst>
              <a:gd name="adj" fmla="val 2857"/>
            </a:avLst>
          </a:prstGeom>
          <a:solidFill>
            <a:srgbClr val="F4F8FA"/>
          </a:solidFill>
          <a:ln w="12700">
            <a:solidFill>
              <a:srgbClr val="D5DE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0" y="3200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365760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[Member names]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[College / incubator]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[GitHub repository link]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Placeholders to be replaced with verified details before submission.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HyperTwin</dc:title>
  <dc:subject>PptxGenJS Presentation</dc:subject>
  <dc:creator>[Team name]</dc:creator>
  <cp:lastModifiedBy>[Team name]</cp:lastModifiedBy>
  <cp:revision>1</cp:revision>
  <dcterms:created xsi:type="dcterms:W3CDTF">2026-10-24T07:17:18Z</dcterms:created>
  <dcterms:modified xsi:type="dcterms:W3CDTF">2026-10-24T07:17:18Z</dcterms:modified>
</cp:coreProperties>
</file>